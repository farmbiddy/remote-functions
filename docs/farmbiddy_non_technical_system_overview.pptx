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70" r:id="rId5"/>
    <p:sldId id="273" r:id="rId6"/>
    <p:sldId id="274" r:id="rId7"/>
    <p:sldId id="271" r:id="rId8"/>
    <p:sldId id="272" r:id="rId9"/>
    <p:sldId id="259" r:id="rId10"/>
    <p:sldId id="260" r:id="rId11"/>
    <p:sldId id="261" r:id="rId12"/>
    <p:sldId id="275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6" r:id="rId21"/>
    <p:sldId id="2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40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789708" y="1014574"/>
            <a:ext cx="9725730" cy="2226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800" b="1">
                <a:solidFill>
                  <a:srgbClr val="1F3745"/>
                </a:solidFill>
              </a:defRPr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Understanding the FarmBiddy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9708" y="3640633"/>
            <a:ext cx="9725730" cy="2487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solidFill>
                  <a:srgbClr val="527D4C"/>
                </a:solidFill>
              </a:defRPr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A simple guide for people testing and improving Biddy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Why do three parts work together?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274320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App Platform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The product people use.</a:t>
            </a:r>
            <a:br/>
            <a:r>
              <a:t>Accounts, data and the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383280" cy="274320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Biddy / Agent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The brain and hands.</a:t>
            </a:r>
            <a:br/>
            <a:r>
              <a:t>Understands requests and uses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274320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Eval / Testing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Quality control.</a:t>
            </a:r>
            <a:br/>
            <a:r>
              <a:t>Checks that Biddy behaves as expected.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F3745"/>
                </a:solidFill>
              </a:defRPr>
            </a:pPr>
            <a:r>
              <a:rPr lang="en-IE" sz="2900" b="1">
                <a:solidFill>
                  <a:srgbClr val="1F3745"/>
                </a:solidFill>
                <a:latin typeface="Aptos Display"/>
              </a:rPr>
              <a:t>Why system context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3246120" cy="406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2000">
                <a:solidFill>
                  <a:srgbClr val="2D2D2D"/>
                </a:solidFill>
              </a:defRPr>
            </a:pPr>
            <a:r>
              <a:rPr lang="en-US" sz="2200" b="0">
                <a:solidFill>
                  <a:srgbClr val="1F3745"/>
                </a:solidFill>
                <a:latin typeface="Aptos"/>
              </a:rPr>
              <a:t>Focus 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400" b="1">
                <a:solidFill>
                  <a:srgbClr val="1F3745"/>
                </a:solidFill>
                <a:latin typeface="Aptos"/>
              </a:rPr>
              <a:t>behaviour,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en-US" sz="3400" b="1">
                <a:solidFill>
                  <a:srgbClr val="537D4C"/>
                </a:solidFill>
                <a:latin typeface="Aptos"/>
              </a:rPr>
              <a:t>not code.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600" b="0">
                <a:solidFill>
                  <a:srgbClr val="636D70"/>
                </a:solidFill>
                <a:latin typeface="Aptos"/>
              </a:rPr>
              <a:t>Your job is to recognise what “good” looks like.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54864" cy="3794760"/>
          </a:xfrm>
          <a:prstGeom prst="rect">
            <a:avLst/>
          </a:prstGeom>
          <a:solidFill>
            <a:srgbClr val="53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01  </a:t>
            </a:r>
            <a:r>
              <a:rPr sz="1500" b="1">
                <a:solidFill>
                  <a:srgbClr val="1F3745"/>
                </a:solidFill>
                <a:latin typeface="Aptos"/>
              </a:rPr>
              <a:t>MANY PATHS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Biddy receives requests in many different 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889504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02  </a:t>
            </a:r>
            <a:r>
              <a:rPr sz="1500" b="1">
                <a:solidFill>
                  <a:srgbClr val="1F3745"/>
                </a:solidFill>
                <a:latin typeface="Aptos"/>
              </a:rPr>
              <a:t>CONNECTED IMPACT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A fix in one scenario can affect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315968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03  </a:t>
            </a:r>
            <a:r>
              <a:rPr sz="1500" b="1">
                <a:solidFill>
                  <a:srgbClr val="1F3745"/>
                </a:solidFill>
                <a:latin typeface="Aptos"/>
              </a:rPr>
              <a:t>SAFE PROGRESS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Testing improves capability without breaking what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88336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8EE62-CF41-24FB-5A72-740E07F03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891" y="609206"/>
            <a:ext cx="5506218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5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449CD3-5753-63CE-2732-D681A0C99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458" y="0"/>
            <a:ext cx="6673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7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76A95-7B3B-9D90-532C-3E54F969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628650"/>
            <a:ext cx="75057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96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6C8D5-995B-44B7-CF89-A94FB6E2C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484"/>
            <a:ext cx="12192000" cy="552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2C6DC-14CF-97DE-01BB-EC15B5FA4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961680"/>
            <a:ext cx="7687748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65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What happens when someone asks Biddy something?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User 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1487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82896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4304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Do the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Understanding ≠ successful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292608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Understand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Did Biddy understand what the person meant?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383280" cy="292608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Execute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Did it find the right information or perform the right 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292608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Answer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Was the response correct, useful and clear?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Conversation context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Earlier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39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Remember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Understand follow-up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Respond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t>Example: “Find John Murphy.” → “When was his last visit?”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t>Biddy needs to understand who “his” refers 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E8239-8DA5-9444-C3B1-7F64A74E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60" y="0"/>
            <a:ext cx="9555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0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F3745"/>
                </a:solidFill>
              </a:defRPr>
            </a:pPr>
            <a:r>
              <a:rPr lang="en-US" sz="2900" b="1">
                <a:solidFill>
                  <a:srgbClr val="1F3745"/>
                </a:solidFill>
                <a:latin typeface="Aptos Display"/>
              </a:rPr>
              <a:t>Why do we need an Eval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3246120" cy="406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2200" b="0">
                <a:solidFill>
                  <a:srgbClr val="1F3745"/>
                </a:solidFill>
                <a:latin typeface="Aptos"/>
              </a:rPr>
              <a:t>Build 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400" b="1">
                <a:solidFill>
                  <a:srgbClr val="1F3745"/>
                </a:solidFill>
                <a:latin typeface="Aptos"/>
              </a:rPr>
              <a:t>feedback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en-US" sz="3400" b="1">
                <a:solidFill>
                  <a:srgbClr val="537D4C"/>
                </a:solidFill>
                <a:latin typeface="Aptos"/>
              </a:rPr>
              <a:t>loop.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600" b="0">
                <a:solidFill>
                  <a:srgbClr val="636D70"/>
                </a:solidFill>
                <a:latin typeface="Aptos"/>
              </a:rPr>
              <a:t>Automated tests, human insight and quality checks improve Biddy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54864" cy="3794760"/>
          </a:xfrm>
          <a:prstGeom prst="rect">
            <a:avLst/>
          </a:prstGeom>
          <a:solidFill>
            <a:srgbClr val="53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01  </a:t>
            </a:r>
            <a:r>
              <a:rPr sz="1500" b="1">
                <a:solidFill>
                  <a:srgbClr val="1F3745"/>
                </a:solidFill>
                <a:latin typeface="Aptos"/>
              </a:rPr>
              <a:t>AUTOMATED TESTS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Protect behaviour we already know about.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889504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dirty="0">
                <a:solidFill>
                  <a:srgbClr val="537D4C"/>
                </a:solidFill>
                <a:latin typeface="Aptos"/>
              </a:rPr>
              <a:t>02  </a:t>
            </a:r>
            <a:r>
              <a:rPr sz="1500" b="1" dirty="0">
                <a:solidFill>
                  <a:srgbClr val="1F3745"/>
                </a:solidFill>
                <a:latin typeface="Aptos"/>
              </a:rPr>
              <a:t>HUMAN TESTERS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dirty="0">
                <a:solidFill>
                  <a:srgbClr val="2E2E2E"/>
                </a:solidFill>
                <a:latin typeface="Aptos"/>
              </a:rPr>
              <a:t>Find what we did not think to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315968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dirty="0">
                <a:solidFill>
                  <a:srgbClr val="537D4C"/>
                </a:solidFill>
                <a:latin typeface="Aptos"/>
              </a:rPr>
              <a:t>03  </a:t>
            </a:r>
            <a:r>
              <a:rPr sz="1500" b="1" dirty="0">
                <a:solidFill>
                  <a:srgbClr val="1F3745"/>
                </a:solidFill>
                <a:latin typeface="Aptos"/>
              </a:rPr>
              <a:t>QUALITY CHECKS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dirty="0">
                <a:solidFill>
                  <a:srgbClr val="2E2E2E"/>
                </a:solidFill>
                <a:latin typeface="Aptos"/>
              </a:rPr>
              <a:t>Confirm the answer is useful — not just that the system ran.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88336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Functional vs. Quality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5029200" cy="292608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Functional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“Did the system do the expected thing?”</a:t>
            </a:r>
            <a:br/>
            <a:br/>
            <a:r>
              <a:t>Example: Was the correct capability selected?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28800"/>
            <a:ext cx="5029200" cy="292608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Quality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“Was the result actually correct and useful?”</a:t>
            </a:r>
            <a:br/>
            <a:br/>
            <a:r>
              <a:t>Example: Did Biddy find the right client and explain the answer properly?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F3745"/>
                </a:solidFill>
              </a:defRPr>
            </a:pPr>
            <a:r>
              <a:rPr lang="en-IE" sz="2900" b="1">
                <a:solidFill>
                  <a:srgbClr val="1F3745"/>
                </a:solidFill>
                <a:latin typeface="Aptos Display"/>
              </a:rPr>
              <a:t>Why human testers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3246120" cy="406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2200" b="0">
                <a:solidFill>
                  <a:srgbClr val="1F3745"/>
                </a:solidFill>
                <a:latin typeface="Aptos"/>
              </a:rPr>
              <a:t>Represent the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400" b="1">
                <a:solidFill>
                  <a:srgbClr val="1F3745"/>
                </a:solidFill>
                <a:latin typeface="Aptos"/>
              </a:rPr>
              <a:t>real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en-US" sz="3400" b="1">
                <a:solidFill>
                  <a:srgbClr val="537D4C"/>
                </a:solidFill>
                <a:latin typeface="Aptos"/>
              </a:rPr>
              <a:t>user.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600" b="0">
                <a:solidFill>
                  <a:srgbClr val="636D70"/>
                </a:solidFill>
                <a:latin typeface="Aptos"/>
              </a:rPr>
              <a:t>Real people bring unpredictable language, shortcuts and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54864" cy="3794760"/>
          </a:xfrm>
          <a:prstGeom prst="rect">
            <a:avLst/>
          </a:prstGeom>
          <a:solidFill>
            <a:srgbClr val="53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01  </a:t>
            </a:r>
            <a:r>
              <a:rPr sz="1500" b="1">
                <a:solidFill>
                  <a:srgbClr val="1F3745"/>
                </a:solidFill>
                <a:latin typeface="Aptos"/>
              </a:rPr>
              <a:t>UNPREDICTABLE LANGUAGE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Real requests are rarely perfectly phrased.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889504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02  </a:t>
            </a:r>
            <a:r>
              <a:rPr sz="1500" b="1">
                <a:solidFill>
                  <a:srgbClr val="1F3745"/>
                </a:solidFill>
                <a:latin typeface="Aptos"/>
              </a:rPr>
              <a:t>NATURAL SHORTCUTS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Expect slang, incomplete requests and follow-ups.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315968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03  </a:t>
            </a:r>
            <a:r>
              <a:rPr sz="1500" b="1">
                <a:solidFill>
                  <a:srgbClr val="1F3745"/>
                </a:solidFill>
                <a:latin typeface="Aptos"/>
              </a:rPr>
              <a:t>CONTEXT MATTERS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The same words can mean different things.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88336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Graph Execution: making Biddy more flexible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61487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82896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Step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4304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Step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2743200"/>
            <a:ext cx="2048255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t>An internal improvement to how Biddy decides what work is needed.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t>The plan can change depending on the request — it is not one fixed path.</a:t>
            </a:r>
          </a:p>
          <a:p>
            <a:pPr>
              <a:spcAft>
                <a:spcPts val="1500"/>
              </a:spcAft>
              <a:defRPr sz="1700">
                <a:solidFill>
                  <a:srgbClr val="2D2D2D"/>
                </a:solidFill>
              </a:defRPr>
            </a:pPr>
            <a:r>
              <a:t>For testers, the key question remains: does Biddy behave correctly?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More capabilities in the future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743200" cy="329184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Financial modelling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Biddy gathers relevant information and uses a specialist capability to calculate or model an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737360"/>
            <a:ext cx="2743200" cy="329184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Agricultural data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Weather, markets, regulations and other specialist information can become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737360"/>
            <a:ext cx="2743200" cy="329184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External services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Other systems can be connected when they provide useful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1737360"/>
            <a:ext cx="1920240" cy="3291840"/>
          </a:xfrm>
          <a:prstGeom prst="roundRect">
            <a:avLst/>
          </a:prstGeom>
          <a:solidFill>
            <a:srgbClr val="F2F6F0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5"/>
                </a:solidFill>
              </a:defRPr>
            </a:pPr>
            <a:r>
              <a:t>Biddy</a:t>
            </a:r>
          </a:p>
          <a:p>
            <a:pPr algn="ctr">
              <a:defRPr sz="1400">
                <a:solidFill>
                  <a:srgbClr val="2D2D2D"/>
                </a:solidFill>
              </a:defRPr>
            </a:pPr>
            <a:r>
              <a:t>Coordinates the work and explains the result.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5"/>
                </a:solidFill>
              </a:defRPr>
            </a:pPr>
            <a:r>
              <a:t>A simple rule for the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Biddy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39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Chooses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Specialist does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2743200"/>
            <a:ext cx="2578608" cy="1143000"/>
          </a:xfrm>
          <a:prstGeom prst="roundRect">
            <a:avLst/>
          </a:prstGeom>
          <a:solidFill>
            <a:srgbClr val="F2F6F0"/>
          </a:solidFill>
          <a:ln>
            <a:solidFill>
              <a:srgbClr val="527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745"/>
                </a:solidFill>
              </a:defRPr>
            </a:pPr>
            <a:r>
              <a:t>Biddy explains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D2D2D"/>
                </a:solidFill>
              </a:defRPr>
            </a:pPr>
            <a:r>
              <a:t>Biddy coordinates specialist capabilities rather than becoming a giant collection of bespoke logic.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F3745"/>
                </a:solidFill>
              </a:defRPr>
            </a:pPr>
            <a:r>
              <a:rPr lang="en-US" sz="2900" b="1">
                <a:solidFill>
                  <a:srgbClr val="1F3745"/>
                </a:solidFill>
                <a:latin typeface="Aptos Display"/>
              </a:rPr>
              <a:t>What testers should focus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3246120" cy="406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lang="en-US" sz="2200" b="0">
                <a:solidFill>
                  <a:srgbClr val="1F3745"/>
                </a:solidFill>
                <a:latin typeface="Aptos"/>
              </a:rPr>
              <a:t>Report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3400" b="1">
                <a:solidFill>
                  <a:srgbClr val="1F3745"/>
                </a:solidFill>
                <a:latin typeface="Aptos"/>
              </a:rPr>
              <a:t>behaviour,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en-US" sz="3400" b="1">
                <a:solidFill>
                  <a:srgbClr val="537D4C"/>
                </a:solidFill>
                <a:latin typeface="Aptos"/>
              </a:rPr>
              <a:t>not code.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600" b="0">
                <a:solidFill>
                  <a:srgbClr val="636D70"/>
                </a:solidFill>
                <a:latin typeface="Aptos"/>
              </a:rPr>
              <a:t>Describe what happened clearly. Diagnosis is not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81328"/>
            <a:ext cx="54864" cy="3794760"/>
          </a:xfrm>
          <a:prstGeom prst="rect">
            <a:avLst/>
          </a:prstGeom>
          <a:solidFill>
            <a:srgbClr val="53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663440" y="1463040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01  </a:t>
            </a:r>
            <a:r>
              <a:rPr sz="1500" b="1">
                <a:solidFill>
                  <a:srgbClr val="1F3745"/>
                </a:solidFill>
                <a:latin typeface="Aptos"/>
              </a:rPr>
              <a:t>SET THE BASELINE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What did you ask, and what did you expect?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889504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02  </a:t>
            </a:r>
            <a:r>
              <a:rPr sz="1500" b="1">
                <a:solidFill>
                  <a:srgbClr val="1F3745"/>
                </a:solidFill>
                <a:latin typeface="Aptos"/>
              </a:rPr>
              <a:t>OBSERVE THE RESULT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What did Biddy do — was it correct, complete and useful?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4315968"/>
            <a:ext cx="6629400" cy="10698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537D4C"/>
                </a:solidFill>
                <a:latin typeface="Aptos"/>
              </a:rPr>
              <a:t>03  </a:t>
            </a:r>
            <a:r>
              <a:rPr sz="1500" b="1">
                <a:solidFill>
                  <a:srgbClr val="1F3745"/>
                </a:solidFill>
                <a:latin typeface="Aptos"/>
              </a:rPr>
              <a:t>CHECK REGRESSIONS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2E2E2E"/>
                </a:solidFill>
                <a:latin typeface="Aptos"/>
              </a:rPr>
              <a:t>Did anything that worked before stop working?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688336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6629400" cy="13716"/>
          </a:xfrm>
          <a:prstGeom prst="rect">
            <a:avLst/>
          </a:prstGeom>
          <a:solidFill>
            <a:srgbClr val="D6D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8EF35-BCA7-19C5-11EF-D4E50B43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67" y="643467"/>
            <a:ext cx="55710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44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100023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IE" sz="2900" b="1">
                <a:solidFill>
                  <a:srgbClr val="1F3745"/>
                </a:solidFill>
                <a:latin typeface="Aptos Display"/>
              </a:rPr>
              <a:t>What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170432"/>
            <a:ext cx="9720072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F3745"/>
                </a:solidFill>
                <a:latin typeface="Aptos"/>
              </a:rPr>
              <a:t>Test the whole experience — not the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10360152" cy="32004"/>
          </a:xfrm>
          <a:prstGeom prst="rect">
            <a:avLst/>
          </a:prstGeom>
          <a:solidFill>
            <a:srgbClr val="53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537D4C"/>
                </a:solidFill>
                <a:latin typeface="Aptos"/>
              </a:rPr>
              <a:t>01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800" b="1">
                <a:solidFill>
                  <a:srgbClr val="1F3745"/>
                </a:solidFill>
                <a:latin typeface="Aptos"/>
              </a:rPr>
              <a:t>SEE THE WHOLE SYSTEM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2E2E2E"/>
                </a:solidFill>
                <a:latin typeface="Aptos"/>
              </a:rPr>
              <a:t>App, Biddy, specialist capabilities and Eval work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25603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537D4C"/>
                </a:solidFill>
                <a:latin typeface="Aptos"/>
              </a:rPr>
              <a:t>02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800" b="1">
                <a:solidFill>
                  <a:srgbClr val="1F3745"/>
                </a:solidFill>
                <a:latin typeface="Aptos"/>
              </a:rPr>
              <a:t>TEST LIKE A REAL USER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2E2E2E"/>
                </a:solidFill>
                <a:latin typeface="Aptos"/>
              </a:rPr>
              <a:t>Use natural language, ambiguity and follow-up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560320"/>
            <a:ext cx="278892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>
                <a:solidFill>
                  <a:srgbClr val="537D4C"/>
                </a:solidFill>
                <a:latin typeface="Aptos"/>
              </a:rPr>
              <a:t>03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800" b="1">
                <a:solidFill>
                  <a:srgbClr val="1F3745"/>
                </a:solidFill>
                <a:latin typeface="Aptos"/>
              </a:rPr>
              <a:t>IMPROVE SAFELY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2E2E2E"/>
                </a:solidFill>
                <a:latin typeface="Aptos"/>
              </a:rPr>
              <a:t>Judge usefulness, report behaviour and catch regressions.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542032"/>
            <a:ext cx="13716" cy="2057400"/>
          </a:xfrm>
          <a:prstGeom prst="rect">
            <a:avLst/>
          </a:prstGeom>
          <a:solidFill>
            <a:srgbClr val="C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2542032"/>
            <a:ext cx="13716" cy="2057400"/>
          </a:xfrm>
          <a:prstGeom prst="rect">
            <a:avLst/>
          </a:prstGeom>
          <a:solidFill>
            <a:srgbClr val="C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6871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37D4C"/>
                </a:solidFill>
                <a:latin typeface="Aptos"/>
              </a:rPr>
              <a:t>The goal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3745"/>
                </a:solidFill>
                <a:latin typeface="Aptos"/>
              </a:rPr>
              <a:t>More capable. More reliable. More useful. Without breaking what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McNamara</cp:lastModifiedBy>
  <cp:revision>4</cp:revision>
  <dcterms:created xsi:type="dcterms:W3CDTF">2013-01-27T09:14:16Z</dcterms:created>
  <dcterms:modified xsi:type="dcterms:W3CDTF">2026-09-04T12:33:32Z</dcterms:modified>
  <cp:category/>
</cp:coreProperties>
</file>